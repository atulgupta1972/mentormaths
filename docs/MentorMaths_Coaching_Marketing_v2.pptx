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A5B4FC"/>
                </a:solidFill>
                <a:latin typeface="Calibri"/>
              </a:rPr>
              <a:t>MENTORMATHS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Plan · Practice · Perform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0E7FF"/>
                </a:solidFill>
                <a:latin typeface="Calibri"/>
              </a:rPr>
              <a:t>The maths coaching OS — exam plans, daily drills, revision queues,
and parent alerts built by a teacher who runs real classes.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7D2FE"/>
                </a:solidFill>
                <a:latin typeface="Calibri"/>
              </a:rPr>
              <a:t>For coaching classes &amp; serious home mentors  ·  mentormaths.in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One line coaches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7D2FE"/>
                </a:solidFill>
                <a:latin typeface="Calibri"/>
              </a:rPr>
              <a:t>Punch lines you can put on a flyer or WhatsApp broadcast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8686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07007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  <a:latin typeface="Calibri"/>
              </a:rPr>
              <a:t>Not another question bank.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3619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Calibri"/>
              </a:rPr>
              <a:t>A full coaching operating system — plan → practice → exam → revise.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57400"/>
            <a:ext cx="11247120" cy="8686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6712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  <a:latin typeface="Calibri"/>
              </a:rPr>
              <a:t>Wrong answers never die quietly.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9631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Calibri"/>
              </a:rPr>
              <a:t>Every miss enters a revision queue until the student redoes it right.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17520"/>
            <a:ext cx="11247120" cy="8686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1272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  <a:latin typeface="Calibri"/>
              </a:rPr>
              <a:t>Parents see progress without chasing you.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5643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Calibri"/>
              </a:rPr>
              <a:t>Email + WhatsApp when work is done — score, time, and what went wrong.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77639"/>
            <a:ext cx="11247120" cy="8686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8736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  <a:latin typeface="Calibri"/>
              </a:rPr>
              <a:t>Built in the classroom, not a boardroom.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1655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Calibri"/>
              </a:rPr>
              <a:t>Made by a practising mentor · shipped weekly with agile changes for real batches.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937759"/>
            <a:ext cx="11247120" cy="8686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04748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  <a:latin typeface="Calibri"/>
              </a:rPr>
              <a:t>TrainingPeaks for Maths.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376671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Calibri"/>
              </a:rPr>
              <a:t>Syllabus plan + daily workout + race day (school exam) + performance stats.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Calibri"/>
              </a:rPr>
              <a:t>mentormaths.in  ·  Plan · Practice · Perform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B5563"/>
                </a:solidFill>
                <a:latin typeface="Calibri"/>
              </a:rP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coaching-class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7D2FE"/>
                </a:solidFill>
                <a:latin typeface="Calibri"/>
              </a:rPr>
              <a:t>Generic apps don’t run a batch the way you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2410C"/>
                </a:solidFill>
                <a:latin typeface="Calibri"/>
              </a:rPr>
              <a:t>Today’s pain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111827"/>
                </a:solidFill>
                <a:latin typeface="Calibri"/>
              </a:rPr>
              <a:t>•  WhatsApp groups full of PDFs — no completion truth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111827"/>
                </a:solidFill>
                <a:latin typeface="Calibri"/>
              </a:rPr>
              <a:t>•  Excel trackers go stale every exam week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111827"/>
                </a:solidFill>
                <a:latin typeface="Calibri"/>
              </a:rPr>
              <a:t>•  Students “finish” but wrong sums never get redone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111827"/>
                </a:solidFill>
                <a:latin typeface="Calibri"/>
              </a:rPr>
              <a:t>•  Parents ask “how is he doing?” — you dig for answers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111827"/>
                </a:solidFill>
                <a:latin typeface="Calibri"/>
              </a:rPr>
              <a:t>•  One syllabus, many exam dates per child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766E"/>
                </a:solidFill>
                <a:latin typeface="Calibri"/>
              </a:rPr>
              <a:t>With MentorMaths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111827"/>
                </a:solidFill>
                <a:latin typeface="Calibri"/>
              </a:rPr>
              <a:t>•  Live class dashboard: completion, score, hours, revision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111827"/>
                </a:solidFill>
                <a:latin typeface="Calibri"/>
              </a:rPr>
              <a:t>•  Per-student exam plan tied to chapters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111827"/>
                </a:solidFill>
                <a:latin typeface="Calibri"/>
              </a:rPr>
              <a:t>•  Revision queue: pending + wrong until cleared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111827"/>
                </a:solidFill>
                <a:latin typeface="Calibri"/>
              </a:rPr>
              <a:t>•  Auto email / WhatsApp on every submission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111827"/>
                </a:solidFill>
                <a:latin typeface="Calibri"/>
              </a:rPr>
              <a:t>•  Content bank: practice, test, written, FIB, formula, books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Calibri"/>
              </a:rPr>
              <a:t>mentormaths.in  ·  Plan · Practice · Perform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B5563"/>
                </a:solidFill>
                <a:latin typeface="Calibri"/>
              </a:rP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Coaching-class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7D2FE"/>
                </a:solidFill>
                <a:latin typeface="Calibri"/>
              </a:rPr>
              <a:t>Class status &amp; exam plans — who is ready for the next paper</a:t>
            </a:r>
          </a:p>
        </p:txBody>
      </p:sp>
      <p:pic>
        <p:nvPicPr>
          <p:cNvPr id="5" name="Picture 4" descr="c__Users_Atul.Gupta_AppData_Roaming_Cursor_User_workspaceStorage_ad0ab84d653cd53839d2ffba3a60bed5_images_image-0aad162b-3c07-417a-8bca-2234a80d30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9245782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Calibri"/>
              </a:rPr>
              <a:t>mentormaths.in  ·  Plan · Practice · Perform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B5563"/>
                </a:solidFill>
                <a:latin typeface="Calibri"/>
              </a:rP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 the coach sees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7D2FE"/>
                </a:solidFill>
                <a:latin typeface="Calibri"/>
              </a:rPr>
              <a:t>From the class screen — actionable, not decorative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383280" cy="17373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1B4B"/>
                </a:solidFill>
                <a:latin typeface="Calibri"/>
              </a:rPr>
              <a:t>Completion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Calibri"/>
              </a:rPr>
              <a:t>Sets done vs planned for studied chapters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1188720"/>
            <a:ext cx="3383280" cy="17373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417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1B4B"/>
                </a:solidFill>
                <a:latin typeface="Calibri"/>
              </a:rPr>
              <a:t>Score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92024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Calibri"/>
              </a:rPr>
              <a:t>Average across scored attempts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1188720"/>
            <a:ext cx="3383280" cy="17373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1417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1B4B"/>
                </a:solidFill>
                <a:latin typeface="Calibri"/>
              </a:rPr>
              <a:t>Revision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192024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Calibri"/>
              </a:rPr>
              <a:t>Pending + wrong still to redo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91840"/>
            <a:ext cx="3383280" cy="17373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520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1B4B"/>
                </a:solidFill>
                <a:latin typeface="Calibri"/>
              </a:rPr>
              <a:t>Days &amp; hours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02336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Calibri"/>
              </a:rPr>
              <a:t>Login streak and active study 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3291840"/>
            <a:ext cx="3383280" cy="17373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3520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1B4B"/>
                </a:solidFill>
                <a:latin typeface="Calibri"/>
              </a:rPr>
              <a:t>Exam 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02336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Calibri"/>
              </a:rPr>
              <a:t>Half-yearly / unit test date per child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3291840"/>
            <a:ext cx="3383280" cy="17373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79" y="3520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1B4B"/>
                </a:solidFill>
                <a:latin typeface="Calibri"/>
              </a:rPr>
              <a:t>Alerts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402336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Calibri"/>
              </a:rPr>
              <a:t>“4 students have no upcoming exam plan”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Calibri"/>
              </a:rPr>
              <a:t>mentormaths.in  ·  Plan · Practice · Perform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B5563"/>
                </a:solidFill>
                <a:latin typeface="Calibri"/>
              </a:rP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Student view — study plan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7D2FE"/>
                </a:solidFill>
                <a:latin typeface="Calibri"/>
              </a:rPr>
              <a:t>Same truth the coach sees · chapters tagged to exam date</a:t>
            </a:r>
          </a:p>
        </p:txBody>
      </p:sp>
      <p:pic>
        <p:nvPicPr>
          <p:cNvPr id="5" name="Picture 4" descr="c__Users_Atul.Gupta_AppData_Roaming_Cursor_User_workspaceStorage_ad0ab84d653cd53839d2ffba3a60bed5_images_image-be5f5df5-191d-4ea2-aefd-43becf1a111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0157595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Calibri"/>
              </a:rPr>
              <a:t>mentormaths.in  ·  Plan · Practice · Perform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B5563"/>
                </a:solidFill>
                <a:latin typeface="Calibri"/>
              </a:rP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drill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7D2FE"/>
                </a:solidFill>
                <a:latin typeface="Calibri"/>
              </a:rPr>
              <a:t>Mastery = finish the set + clear every wrong sum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Guided practice: one sum at a time, hints, give-up tracked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Learner / Achiever / Expert mixes — not one-size worksheets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Wrong answers → revision queue (pending until redone)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Basics drill: tables / squares / cubes with seconds-per-blank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Formula drill: daily spaced practice from your bank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Chapter tests autosave — WiFi drop doesn’t wipe progress</a:t>
            </a:r>
          </a:p>
        </p:txBody>
      </p:sp>
      <p:pic>
        <p:nvPicPr>
          <p:cNvPr id="6" name="Picture 5" descr="c__Users_Atul.Gupta_AppData_Roaming_Cursor_User_workspaceStorage_ad0ab84d653cd53839d2ffba3a60bed5_images_image-7e37a4f7-7aef-45b5-904f-9c2845b68c0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143000"/>
            <a:ext cx="5394960" cy="242351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Calibri"/>
              </a:rPr>
              <a:t>mentormaths.in  ·  Plan · Practice · Perform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B5563"/>
                </a:solidFill>
                <a:latin typeface="Calibri"/>
              </a:rP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Content coverage — your bank, chapter × format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7D2FE"/>
                </a:solidFill>
                <a:latin typeface="Calibri"/>
              </a:rPr>
              <a:t>Practice · Test · Written · Fill-blank · Formula · Books</a:t>
            </a:r>
          </a:p>
        </p:txBody>
      </p:sp>
      <p:pic>
        <p:nvPicPr>
          <p:cNvPr id="5" name="Picture 4" descr="c__Users_Atul.Gupta_AppData_Roaming_Cursor_User_workspaceStorage_ad0ab84d653cd53839d2ffba3a60bed5_images_image-cbf36cc1-44f0-495a-b708-3b204596f7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0706654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Calibri"/>
              </a:rPr>
              <a:t>mentormaths.in  ·  Plan · Practice · Perform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B5563"/>
                </a:solidFill>
                <a:latin typeface="Calibri"/>
              </a:rP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Email &amp; WhatsApp — parents stay in the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7D2FE"/>
                </a:solidFill>
                <a:latin typeface="Calibri"/>
              </a:rPr>
              <a:t>Every submission: score, time, attempt history, what went wrong</a:t>
            </a:r>
          </a:p>
        </p:txBody>
      </p:sp>
      <p:pic>
        <p:nvPicPr>
          <p:cNvPr id="5" name="Picture 4" descr="c__Users_Atul.Gupta_AppData_Roaming_Cursor_User_workspaceStorage_ad0ab84d653cd53839d2ffba3a60bed5_images_image-9c726a82-f7eb-4e3f-98fc-e7eadb8d77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6387569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2801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  <a:latin typeface="Calibri"/>
              </a:rPr>
              <a:t>In the mail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73736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Attempt # and score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Time taken vs target date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All prior attempts compared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First-try correct / hints used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“What went wrong” review list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WhatsApp templates for assignments too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Calibri"/>
              </a:rPr>
              <a:t>mentormaths.in  ·  Plan · Practice · Perform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B5563"/>
                </a:solidFill>
                <a:latin typeface="Calibri"/>
              </a:rP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How we differ from market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7D2FE"/>
                </a:solidFill>
                <a:latin typeface="Calibri"/>
              </a:rPr>
              <a:t>Byju’s · EduGain · Open Door · fee CRMs — vs a coaching-class OS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2331720" cy="6583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59" y="1124712"/>
            <a:ext cx="2240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Capability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24912" y="1051560"/>
            <a:ext cx="1783080" cy="658368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70632" y="1124712"/>
            <a:ext cx="16916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Byju’s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81144" y="1051560"/>
            <a:ext cx="1783080" cy="658368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26864" y="1124712"/>
            <a:ext cx="16916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EduGain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37376" y="1051560"/>
            <a:ext cx="1783080" cy="658368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1124712"/>
            <a:ext cx="16916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Open Door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93608" y="1051560"/>
            <a:ext cx="1783080" cy="658368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8" y="1124712"/>
            <a:ext cx="16916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Fee / tuition
CRMs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149840" y="1051560"/>
            <a:ext cx="2148840" cy="658368"/>
          </a:xfrm>
          <a:prstGeom prst="rect">
            <a:avLst/>
          </a:prstGeom>
          <a:solidFill>
            <a:srgbClr val="14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95560" y="1124712"/>
            <a:ext cx="2057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MentorMaths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1755648"/>
            <a:ext cx="2331720" cy="530352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59" y="1865376"/>
            <a:ext cx="2240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Calibri"/>
              </a:rPr>
              <a:t>Exam-linked study plan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24912" y="1755648"/>
            <a:ext cx="1783080" cy="53035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70632" y="1865376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Calibri"/>
              </a:rPr>
              <a:t>Course packs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81144" y="1755648"/>
            <a:ext cx="1783080" cy="53035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26864" y="1865376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Calibri"/>
              </a:rPr>
              <a:t>Topic practice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37376" y="1755648"/>
            <a:ext cx="1783080" cy="53035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3096" y="1865376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Calibri"/>
              </a:rPr>
              <a:t>Topic tests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93608" y="1755648"/>
            <a:ext cx="1783080" cy="53035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9328" y="1865376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Calibri"/>
              </a:rPr>
              <a:t>Rare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49840" y="1755648"/>
            <a:ext cx="2148840" cy="530352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95560" y="1865376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5803D"/>
                </a:solidFill>
                <a:latin typeface="Calibri"/>
              </a:rPr>
              <a:t>Yes — per student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2286000"/>
            <a:ext cx="2331720" cy="530352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59" y="2395728"/>
            <a:ext cx="2240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Calibri"/>
              </a:rPr>
              <a:t>Revision of wrong sums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24912" y="2286000"/>
            <a:ext cx="17830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70632" y="2395728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Calibri"/>
              </a:rPr>
              <a:t>In-app only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81144" y="2286000"/>
            <a:ext cx="17830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26864" y="2395728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Calibri"/>
              </a:rPr>
              <a:t>Focus areas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37376" y="2286000"/>
            <a:ext cx="17830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83096" y="2395728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Calibri"/>
              </a:rPr>
              <a:t>Assessment gap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93608" y="2286000"/>
            <a:ext cx="17830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8" y="2395728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Calibri"/>
              </a:rPr>
              <a:t>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149840" y="2286000"/>
            <a:ext cx="2148840" cy="530352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95560" y="2395728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5803D"/>
                </a:solidFill>
                <a:latin typeface="Calibri"/>
              </a:rPr>
              <a:t>Auto redo queue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2816352"/>
            <a:ext cx="2331720" cy="530352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59" y="2926080"/>
            <a:ext cx="2240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Calibri"/>
              </a:rPr>
              <a:t>Basics / formula drills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24912" y="2816352"/>
            <a:ext cx="1783080" cy="53035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70632" y="2926080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Calibri"/>
              </a:rPr>
              <a:t>General app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81144" y="2816352"/>
            <a:ext cx="1783080" cy="53035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26864" y="2926080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Calibri"/>
              </a:rPr>
              <a:t>Worksheets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37376" y="2816352"/>
            <a:ext cx="1783080" cy="53035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83096" y="2926080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Calibri"/>
              </a:rP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93608" y="2816352"/>
            <a:ext cx="1783080" cy="53035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39328" y="2926080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Calibri"/>
              </a:rP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149840" y="2816352"/>
            <a:ext cx="2148840" cy="530352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195560" y="292608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5803D"/>
                </a:solidFill>
                <a:latin typeface="Calibri"/>
              </a:rPr>
              <a:t>Class-tuned daily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3346704"/>
            <a:ext cx="2331720" cy="530352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59" y="3456432"/>
            <a:ext cx="2240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Calibri"/>
              </a:rPr>
              <a:t>Parent email / WhatsApp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24912" y="3346704"/>
            <a:ext cx="17830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70632" y="3456432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Calibri"/>
              </a:rPr>
              <a:t>Parent app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81144" y="3346704"/>
            <a:ext cx="17830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626864" y="3456432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Calibri"/>
              </a:rPr>
              <a:t>Limited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37376" y="3346704"/>
            <a:ext cx="17830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83096" y="3456432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Calibri"/>
              </a:rPr>
              <a:t>School reports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93608" y="3346704"/>
            <a:ext cx="17830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39328" y="3456432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Calibri"/>
              </a:rPr>
              <a:t>Fees only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149840" y="3346704"/>
            <a:ext cx="2148840" cy="530352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195560" y="3456432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5803D"/>
                </a:solidFill>
                <a:latin typeface="Calibri"/>
              </a:rPr>
              <a:t>On every attempt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" y="3877056"/>
            <a:ext cx="2331720" cy="530352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59" y="3986784"/>
            <a:ext cx="2240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Calibri"/>
              </a:rPr>
              <a:t>Coach class dashboard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24912" y="3877056"/>
            <a:ext cx="1783080" cy="53035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770632" y="3986784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Calibri"/>
              </a:rPr>
              <a:t>Consumer-led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81144" y="3877056"/>
            <a:ext cx="1783080" cy="53035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626864" y="3986784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Calibri"/>
              </a:rPr>
              <a:t>Teacher assign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37376" y="3877056"/>
            <a:ext cx="1783080" cy="53035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83096" y="3986784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Calibri"/>
              </a:rPr>
              <a:t>School admin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293608" y="3877056"/>
            <a:ext cx="1783080" cy="53035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339328" y="3986784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Calibri"/>
              </a:rPr>
              <a:t>Attendance/fees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149840" y="3877056"/>
            <a:ext cx="2148840" cy="530352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195560" y="3986784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5803D"/>
                </a:solidFill>
                <a:latin typeface="Calibri"/>
              </a:rPr>
              <a:t>Done · score · hours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20040" y="4407408"/>
            <a:ext cx="2331720" cy="530352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65759" y="4517136"/>
            <a:ext cx="2240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Calibri"/>
              </a:rPr>
              <a:t>Your books + sets matrix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24912" y="4407408"/>
            <a:ext cx="17830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770632" y="4517136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Calibri"/>
              </a:rPr>
              <a:t>Their content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581144" y="4407408"/>
            <a:ext cx="17830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626864" y="4517136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Calibri"/>
              </a:rPr>
              <a:t>Generated bank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437376" y="4407408"/>
            <a:ext cx="17830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483096" y="4517136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Calibri"/>
              </a:rPr>
              <a:t>Their workbooks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293608" y="4407408"/>
            <a:ext cx="17830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339328" y="4517136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Calibri"/>
              </a:rPr>
              <a:t>—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149840" y="4407408"/>
            <a:ext cx="2148840" cy="530352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195560" y="4517136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5803D"/>
                </a:solidFill>
                <a:latin typeface="Calibri"/>
              </a:rPr>
              <a:t>Chapter × format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20040" y="4937760"/>
            <a:ext cx="2331720" cy="530352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65759" y="5047488"/>
            <a:ext cx="2240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Calibri"/>
              </a:rPr>
              <a:t>Built for YOUR batch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724912" y="4937760"/>
            <a:ext cx="1783080" cy="53035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770632" y="5047488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Calibri"/>
              </a:rPr>
              <a:t>Big roadmap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581144" y="4937760"/>
            <a:ext cx="1783080" cy="53035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626864" y="5047488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Calibri"/>
              </a:rPr>
              <a:t>Product SKU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437376" y="4937760"/>
            <a:ext cx="1783080" cy="53035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483096" y="5047488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Calibri"/>
              </a:rPr>
              <a:t>School program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293608" y="4937760"/>
            <a:ext cx="1783080" cy="53035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339328" y="5047488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Calibri"/>
              </a:rPr>
              <a:t>Vendor queue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149840" y="4937760"/>
            <a:ext cx="2148840" cy="530352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195560" y="5047488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5803D"/>
                </a:solidFill>
                <a:latin typeface="Calibri"/>
              </a:rPr>
              <a:t>Weekly — mentor builds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65760" y="61722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Fair positioning by typical product strength — not a full SKU audit of every plan.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Calibri"/>
              </a:rPr>
              <a:t>mentormaths.in  ·  Plan · Practice · Perform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B5563"/>
                </a:solidFill>
                <a:latin typeface="Calibri"/>
              </a:rP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Built by the mentor · shipped with agile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7D2FE"/>
                </a:solidFill>
                <a:latin typeface="Calibri"/>
              </a:rPr>
              <a:t>Not a distant SaaS — tuned for the classes that use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10515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1B4B"/>
                </a:solidFill>
                <a:latin typeface="Calibri"/>
              </a:rPr>
              <a:t>Practitioner-built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Calibri"/>
              </a:rPr>
              <a:t>Designed while teaching real CBSE batches — features come from classroom friction, not feature lists.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31720"/>
            <a:ext cx="11247120" cy="10515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51460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1B4B"/>
                </a:solidFill>
                <a:latin typeface="Calibri"/>
              </a:rPr>
              <a:t>Agile weekly releases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34639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Calibri"/>
              </a:rPr>
              <a:t>Need a new drill range, exam label, or WhatsApp flow? Ship it for your class the same week.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520439"/>
            <a:ext cx="11247120" cy="10515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033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1B4B"/>
                </a:solidFill>
                <a:latin typeface="Calibri"/>
              </a:rPr>
              <a:t>Your syllabus, your books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023359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Calibri"/>
              </a:rPr>
              <a:t>Ganita Prakash, RD Sharma, Greya Lakshmi… mapped chapter-wise into one coverage matrix.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709159"/>
            <a:ext cx="11247120" cy="10515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8920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1B4B"/>
                </a:solidFill>
                <a:latin typeface="Calibri"/>
              </a:rPr>
              <a:t>Integrity + continuity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212079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Calibri"/>
              </a:rPr>
              <a:t>Test protection, autosave on WiFi drops, Continue where the student left off.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Calibri"/>
              </a:rPr>
              <a:t>mentormaths.in  ·  Plan · Practice · Perform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B5563"/>
                </a:solidFill>
                <a:latin typeface="Calibri"/>
              </a:rP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Ready for your next batch?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65176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0E7FF"/>
                </a:solidFill>
                <a:latin typeface="Calibri"/>
              </a:rPr>
              <a:t>Run one class on MentorMaths for one exam cycle.
Watch completion, revision, and parent calm improve together.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A5B4FC"/>
                </a:solidFill>
                <a:latin typeface="Calibri"/>
              </a:rPr>
              <a:t>mentormaths.in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7D2FE"/>
                </a:solidFill>
                <a:latin typeface="Calibri"/>
              </a:rPr>
              <a:t>Plan · Practice · Perform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